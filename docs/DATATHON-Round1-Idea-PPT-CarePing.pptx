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dsc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1316397" cy="1051560"/>
          </a:xfrm>
          <a:prstGeom prst="rect">
            <a:avLst/>
          </a:prstGeom>
        </p:spPr>
      </p:pic>
      <p:pic>
        <p:nvPicPr>
          <p:cNvPr id="3" name="Picture 2" descr="logo-vitap-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60" y="365760"/>
            <a:ext cx="2497824" cy="777240"/>
          </a:xfrm>
          <a:prstGeom prst="rect">
            <a:avLst/>
          </a:prstGeom>
        </p:spPr>
      </p:pic>
      <p:pic>
        <p:nvPicPr>
          <p:cNvPr id="4" name="Picture 3" descr="logo-iiec-l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9800" y="457200"/>
            <a:ext cx="1811915" cy="6858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57200" y="1417320"/>
            <a:ext cx="11274552" cy="36576"/>
          </a:xfrm>
          <a:prstGeom prst="rect">
            <a:avLst/>
          </a:prstGeom>
          <a:solidFill>
            <a:srgbClr val="19E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112471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6600" b="0">
                <a:solidFill>
                  <a:srgbClr val="000000"/>
                </a:solidFill>
                <a:latin typeface="Arial Black"/>
              </a:rPr>
              <a:t>DATA</a:t>
            </a:r>
            <a:r>
              <a:rPr sz="6600" b="0">
                <a:solidFill>
                  <a:srgbClr val="19E3F5"/>
                </a:solidFill>
                <a:latin typeface="Arial Black"/>
              </a:rPr>
              <a:t>T</a:t>
            </a:r>
            <a:r>
              <a:rPr sz="6600" b="0">
                <a:solidFill>
                  <a:srgbClr val="000000"/>
                </a:solidFill>
                <a:latin typeface="Arial Black"/>
              </a:rPr>
              <a:t>HON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78892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000000"/>
                </a:solidFill>
                <a:latin typeface="Arial"/>
              </a:rPr>
              <a:t>ROUND 1  ·  IDEA PPT + BASE PROTOTYPE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3566160"/>
            <a:ext cx="7772400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365760" indent="-365760">
              <a:spcAft>
                <a:spcPts val="800"/>
              </a:spcAft>
              <a:buFont typeface="Arial"/>
              <a:buChar char="•"/>
            </a:pPr>
            <a:r>
              <a:rPr sz="1700" b="1">
                <a:solidFill>
                  <a:srgbClr val="0F172A"/>
                </a:solidFill>
                <a:latin typeface="Arial"/>
              </a:rPr>
              <a:t>Team Name: </a:t>
            </a:r>
            <a:r>
              <a:rPr sz="1700" b="1">
                <a:solidFill>
                  <a:srgbClr val="0D9488"/>
                </a:solidFill>
                <a:latin typeface="Arial"/>
              </a:rPr>
              <a:t>AAdharsha Kutumbam</a:t>
            </a:r>
          </a:p>
          <a:p>
            <a:pPr marL="365760" indent="-365760">
              <a:spcAft>
                <a:spcPts val="800"/>
              </a:spcAft>
              <a:buFont typeface="Arial"/>
              <a:buChar char="•"/>
            </a:pPr>
            <a:r>
              <a:rPr sz="1700" b="1">
                <a:solidFill>
                  <a:srgbClr val="0F172A"/>
                </a:solidFill>
                <a:latin typeface="Arial"/>
              </a:rPr>
              <a:t>Team Members: </a:t>
            </a:r>
            <a:r>
              <a:rPr sz="1700" b="0">
                <a:solidFill>
                  <a:srgbClr val="475569"/>
                </a:solidFill>
                <a:latin typeface="Arial"/>
              </a:rPr>
              <a:t>Naga Adithya V (23BCE9062), Harsha Vardhan Vurtha (23BCE9129)</a:t>
            </a:r>
          </a:p>
          <a:p>
            <a:pPr marL="365760" indent="-365760">
              <a:spcAft>
                <a:spcPts val="800"/>
              </a:spcAft>
              <a:buFont typeface="Arial"/>
              <a:buChar char="•"/>
            </a:pPr>
            <a:r>
              <a:rPr sz="1700" b="1">
                <a:solidFill>
                  <a:srgbClr val="0F172A"/>
                </a:solidFill>
                <a:latin typeface="Arial"/>
              </a:rPr>
              <a:t>Track Chosen: </a:t>
            </a:r>
            <a:r>
              <a:rPr sz="1700" b="0">
                <a:solidFill>
                  <a:srgbClr val="475569"/>
                </a:solidFill>
                <a:latin typeface="Arial"/>
              </a:rPr>
              <a:t>Track 1 — Health: The Forgotten Patient</a:t>
            </a:r>
          </a:p>
          <a:p>
            <a:pPr marL="365760" indent="-365760">
              <a:spcAft>
                <a:spcPts val="800"/>
              </a:spcAft>
              <a:buFont typeface="Arial"/>
              <a:buChar char="•"/>
            </a:pPr>
            <a:r>
              <a:rPr sz="1700" b="1">
                <a:solidFill>
                  <a:srgbClr val="0F172A"/>
                </a:solidFill>
                <a:latin typeface="Arial"/>
              </a:rPr>
              <a:t>Problem Statement Title: </a:t>
            </a:r>
            <a:r>
              <a:rPr sz="1700" b="0">
                <a:solidFill>
                  <a:srgbClr val="475569"/>
                </a:solidFill>
                <a:latin typeface="Arial"/>
              </a:rPr>
              <a:t>Health — The Forgotten Patient</a:t>
            </a:r>
          </a:p>
          <a:p>
            <a:pPr marL="365760" indent="-365760">
              <a:spcAft>
                <a:spcPts val="800"/>
              </a:spcAft>
              <a:buFont typeface="Arial"/>
              <a:buChar char="•"/>
            </a:pPr>
            <a:r>
              <a:rPr sz="1700" b="1">
                <a:solidFill>
                  <a:srgbClr val="0F172A"/>
                </a:solidFill>
                <a:latin typeface="Arial"/>
              </a:rPr>
              <a:t>Product Name: </a:t>
            </a:r>
            <a:r>
              <a:rPr sz="1700" b="1">
                <a:solidFill>
                  <a:srgbClr val="0D9488"/>
                </a:solidFill>
                <a:latin typeface="Arial"/>
              </a:rPr>
              <a:t>CarePing  (Never Lose a Patient in Line)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783080" y="228600"/>
            <a:ext cx="85953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0">
                <a:solidFill>
                  <a:srgbClr val="000000"/>
                </a:solidFill>
                <a:latin typeface="Arial Black"/>
              </a:rPr>
              <a:t>PROBLEM &amp; TARGET USER</a:t>
            </a:r>
          </a:p>
        </p:txBody>
      </p:sp>
      <p:pic>
        <p:nvPicPr>
          <p:cNvPr id="3" name="Picture 2" descr="logo-dsc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7160"/>
            <a:ext cx="1144693" cy="914400"/>
          </a:xfrm>
          <a:prstGeom prst="rect">
            <a:avLst/>
          </a:prstGeom>
        </p:spPr>
      </p:pic>
      <p:pic>
        <p:nvPicPr>
          <p:cNvPr id="4" name="Picture 3" descr="logo-iiec-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0" y="320040"/>
            <a:ext cx="1497850" cy="56692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19E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DATATHON 2026  ·  Round 1 Idea Submission –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355080"/>
            <a:ext cx="1005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300" b="1">
                <a:solidFill>
                  <a:srgbClr val="000000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0876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Arial"/>
              </a:rPr>
              <a:t>❖ </a:t>
            </a:r>
            <a:r>
              <a:rPr sz="2800" b="1" u="sng">
                <a:solidFill>
                  <a:srgbClr val="000000"/>
                </a:solidFill>
                <a:latin typeface="Arial"/>
              </a:rPr>
              <a:t>Problem &amp; Target User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94560"/>
            <a:ext cx="110642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320040" indent="-320040" algn="l">
              <a:buFont typeface="Arial"/>
              <a:buChar char="•"/>
              <a:spcAft>
                <a:spcPts val="1000"/>
              </a:spcAft>
            </a:pPr>
            <a:r>
              <a:rPr sz="1400" b="1">
                <a:solidFill>
                  <a:srgbClr val="0F172A"/>
                </a:solidFill>
                <a:latin typeface="Arial"/>
              </a:rPr>
              <a:t>Who is the user &amp; their real struggle: </a:t>
            </a:r>
            <a:r>
              <a:rPr sz="1400" b="0">
                <a:solidFill>
                  <a:srgbClr val="475569"/>
                </a:solidFill>
                <a:latin typeface="Arial"/>
              </a:rPr>
              <a:t>Frontline hospital staff and reception nurses lack live visibility into how long non-emergency patients have been sitting in waiting rooms. When high-acuity cases keep jumping the line, low-triage patients feel abandoned and walk out without care.</a:t>
            </a:r>
          </a:p>
          <a:p>
            <a:pPr marL="320040" indent="-320040" algn="l">
              <a:buFont typeface="Arial"/>
              <a:buChar char="•"/>
              <a:spcAft>
                <a:spcPts val="1000"/>
              </a:spcAft>
            </a:pPr>
            <a:r>
              <a:rPr sz="1400" b="1">
                <a:solidFill>
                  <a:srgbClr val="0F172A"/>
                </a:solidFill>
                <a:latin typeface="Arial"/>
              </a:rPr>
              <a:t>Why this matters right now: </a:t>
            </a:r>
            <a:r>
              <a:rPr sz="1400" b="0">
                <a:solidFill>
                  <a:srgbClr val="475569"/>
                </a:solidFill>
                <a:latin typeface="Arial"/>
              </a:rPr>
              <a:t>When sick people leave without being seen, their health worsens at home, emergency departments face medical liability, and hospital beds sit empty while waiting for delayed discharge handoffs.</a:t>
            </a:r>
          </a:p>
          <a:p>
            <a:pPr marL="320040" indent="-320040" algn="l">
              <a:buFont typeface="Arial"/>
              <a:buChar char="•"/>
              <a:spcAft>
                <a:spcPts val="1000"/>
              </a:spcAft>
            </a:pPr>
            <a:r>
              <a:rPr sz="1400" b="1">
                <a:solidFill>
                  <a:srgbClr val="0F172A"/>
                </a:solidFill>
                <a:latin typeface="Arial"/>
              </a:rPr>
              <a:t>What the data proved: </a:t>
            </a:r>
            <a:r>
              <a:rPr sz="1400" b="0">
                <a:solidFill>
                  <a:srgbClr val="475569"/>
                </a:solidFill>
                <a:latin typeface="Arial"/>
              </a:rPr>
              <a:t>242 patients walked out before receiving care (3.03% overall, peaking at 4.77% in Outpatient). Alarmingly, 39 of these walkouts were high-acuity emergency cases, and low-triage patients waited an average of 71.7 minutes (up to 2.5 hours in Pediatrics and Lab).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783080" y="228600"/>
            <a:ext cx="85953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0">
                <a:solidFill>
                  <a:srgbClr val="000000"/>
                </a:solidFill>
                <a:latin typeface="Arial Black"/>
              </a:rPr>
              <a:t>SOLUTION &amp; USP</a:t>
            </a:r>
          </a:p>
        </p:txBody>
      </p:sp>
      <p:pic>
        <p:nvPicPr>
          <p:cNvPr id="3" name="Picture 2" descr="logo-dsc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7160"/>
            <a:ext cx="1144693" cy="914400"/>
          </a:xfrm>
          <a:prstGeom prst="rect">
            <a:avLst/>
          </a:prstGeom>
        </p:spPr>
      </p:pic>
      <p:pic>
        <p:nvPicPr>
          <p:cNvPr id="4" name="Picture 3" descr="logo-iiec-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0" y="320040"/>
            <a:ext cx="1497850" cy="56692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19E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DATATHON 2026  ·  Round 1 Idea Submission –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355080"/>
            <a:ext cx="1005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300" b="1">
                <a:solidFill>
                  <a:srgbClr val="000000"/>
                </a:solidFill>
                <a:latin typeface="Arial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0876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Arial"/>
              </a:rPr>
              <a:t>❖ </a:t>
            </a:r>
            <a:r>
              <a:rPr sz="2800" b="1" u="sng">
                <a:solidFill>
                  <a:srgbClr val="000000"/>
                </a:solidFill>
                <a:latin typeface="Arial"/>
              </a:rPr>
              <a:t>Proposed Solution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94560"/>
            <a:ext cx="1106424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320040" indent="-320040" algn="l">
              <a:buFont typeface="Arial"/>
              <a:buChar char="•"/>
              <a:spcAft>
                <a:spcPts val="600"/>
              </a:spcAft>
            </a:pPr>
            <a:r>
              <a:rPr sz="1350" b="1">
                <a:solidFill>
                  <a:srgbClr val="0F172A"/>
                </a:solidFill>
                <a:latin typeface="Arial"/>
              </a:rPr>
              <a:t>CarePing Smart Queue Assistant: </a:t>
            </a:r>
            <a:r>
              <a:rPr sz="1350" b="0">
                <a:solidFill>
                  <a:srgbClr val="475569"/>
                </a:solidFill>
                <a:latin typeface="Arial"/>
              </a:rPr>
              <a:t>A clean, lightweight web board that tracks waiting time in real time and automatically alerts nurses when any low-triage patient reaches 45 minutes in line, triggering a quick comfort check-in before they walk out.</a:t>
            </a:r>
          </a:p>
          <a:p>
            <a:pPr marL="320040" indent="-320040" algn="l">
              <a:buFont typeface="Arial"/>
              <a:buChar char="•"/>
              <a:spcAft>
                <a:spcPts val="600"/>
              </a:spcAft>
            </a:pPr>
            <a:r>
              <a:rPr sz="1350" b="1">
                <a:solidFill>
                  <a:srgbClr val="0F172A"/>
                </a:solidFill>
                <a:latin typeface="Arial"/>
              </a:rPr>
              <a:t>Closing the Care Loop: </a:t>
            </a:r>
            <a:r>
              <a:rPr sz="1350" b="0">
                <a:solidFill>
                  <a:srgbClr val="475569"/>
                </a:solidFill>
                <a:latin typeface="Arial"/>
              </a:rPr>
              <a:t>Directs medically cleared patients straight to a simple discharge lounge, cutting the 52.2-minute post-service exit delay and freeing up beds ~35% sooner.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831335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Arial"/>
              </a:rPr>
              <a:t>❖ </a:t>
            </a:r>
            <a:r>
              <a:rPr sz="2800" b="1" u="sng">
                <a:solidFill>
                  <a:srgbClr val="000000"/>
                </a:solidFill>
                <a:latin typeface="Arial"/>
              </a:rPr>
              <a:t>USP</a:t>
            </a:r>
            <a:r>
              <a:rPr sz="1600" b="0">
                <a:solidFill>
                  <a:srgbClr val="555555"/>
                </a:solidFill>
                <a:latin typeface="Arial"/>
              </a:rPr>
              <a:t>   (Mandatory)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517136"/>
            <a:ext cx="1106424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320040" indent="-320040" algn="l">
              <a:buFont typeface="Arial"/>
              <a:buChar char="•"/>
              <a:spcAft>
                <a:spcPts val="600"/>
              </a:spcAft>
            </a:pPr>
            <a:r>
              <a:rPr sz="1350" b="1">
                <a:solidFill>
                  <a:srgbClr val="0F172A"/>
                </a:solidFill>
                <a:latin typeface="Arial"/>
              </a:rPr>
              <a:t>Proactive Retention over Passive Triage: </a:t>
            </a:r>
            <a:r>
              <a:rPr sz="1350" b="0">
                <a:solidFill>
                  <a:srgbClr val="475569"/>
                </a:solidFill>
                <a:latin typeface="Arial"/>
              </a:rPr>
              <a:t>Most hospital systems only count queue size. CarePing treats waiting as a ticking clock and actively predicts patient walkout risk before it happens.</a:t>
            </a:r>
          </a:p>
          <a:p>
            <a:pPr marL="320040" indent="-320040" algn="l">
              <a:buFont typeface="Arial"/>
              <a:buChar char="•"/>
              <a:spcAft>
                <a:spcPts val="600"/>
              </a:spcAft>
            </a:pPr>
            <a:r>
              <a:rPr sz="1350" b="1">
                <a:solidFill>
                  <a:srgbClr val="0F172A"/>
                </a:solidFill>
                <a:latin typeface="Arial"/>
              </a:rPr>
              <a:t>Zero Equipment &amp; Zero Hiring Cost: </a:t>
            </a:r>
            <a:r>
              <a:rPr sz="1350" b="0">
                <a:solidFill>
                  <a:srgbClr val="475569"/>
                </a:solidFill>
                <a:latin typeface="Arial"/>
              </a:rPr>
              <a:t>Instead of demanding new doctors or expensive hardware, CarePing optimizes queue pacing and separates urgent diagnostic orders, recovering thousands of hours of hospital capacity through smarter workflow alone.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783080" y="228600"/>
            <a:ext cx="85953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0">
                <a:solidFill>
                  <a:srgbClr val="000000"/>
                </a:solidFill>
                <a:latin typeface="Arial Black"/>
              </a:rPr>
              <a:t>DATASET &amp; INSIGHTS</a:t>
            </a:r>
          </a:p>
        </p:txBody>
      </p:sp>
      <p:pic>
        <p:nvPicPr>
          <p:cNvPr id="3" name="Picture 2" descr="logo-dsc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7160"/>
            <a:ext cx="1144693" cy="914400"/>
          </a:xfrm>
          <a:prstGeom prst="rect">
            <a:avLst/>
          </a:prstGeom>
        </p:spPr>
      </p:pic>
      <p:pic>
        <p:nvPicPr>
          <p:cNvPr id="4" name="Picture 3" descr="logo-iiec-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0" y="320040"/>
            <a:ext cx="1497850" cy="56692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19E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DATATHON 2026  ·  Round 1 Idea Submission –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355080"/>
            <a:ext cx="1005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300" b="1">
                <a:solidFill>
                  <a:srgbClr val="000000"/>
                </a:solidFill>
                <a:latin typeface="Arial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0876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Arial"/>
              </a:rPr>
              <a:t>❖ </a:t>
            </a:r>
            <a:r>
              <a:rPr sz="2800" b="1" u="sng">
                <a:solidFill>
                  <a:srgbClr val="000000"/>
                </a:solidFill>
                <a:latin typeface="Arial"/>
              </a:rPr>
              <a:t>Dataset Usage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94560"/>
            <a:ext cx="110642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320040" indent="-320040" algn="l">
              <a:buFont typeface="Arial"/>
              <a:buChar char="•"/>
              <a:spcAft>
                <a:spcPts val="800"/>
              </a:spcAft>
            </a:pPr>
            <a:r>
              <a:rPr sz="1350" b="1">
                <a:solidFill>
                  <a:srgbClr val="0F172A"/>
                </a:solidFill>
                <a:latin typeface="Arial"/>
              </a:rPr>
              <a:t>Relational Data Mapping: </a:t>
            </a:r>
            <a:r>
              <a:rPr sz="1350" b="0">
                <a:solidFill>
                  <a:srgbClr val="475569"/>
                </a:solidFill>
                <a:latin typeface="Arial"/>
              </a:rPr>
              <a:t>Linked 15,012 total records across 4 relational tables: patients (2,000) joined to encounters (8,000) via patient_id; departments (12) via department_id; and diagnostic tests (5,000) via encounter_id.</a:t>
            </a:r>
          </a:p>
          <a:p>
            <a:pPr marL="320040" indent="-320040" algn="l">
              <a:buFont typeface="Arial"/>
              <a:buChar char="•"/>
              <a:spcAft>
                <a:spcPts val="800"/>
              </a:spcAft>
            </a:pPr>
            <a:r>
              <a:rPr sz="1350" b="1">
                <a:solidFill>
                  <a:srgbClr val="0F172A"/>
                </a:solidFill>
                <a:latin typeface="Arial"/>
              </a:rPr>
              <a:t>Data Cleaning &amp; Forensic Catches: </a:t>
            </a:r>
            <a:r>
              <a:rPr sz="1350" b="0">
                <a:solidFill>
                  <a:srgbClr val="475569"/>
                </a:solidFill>
                <a:latin typeface="Arial"/>
              </a:rPr>
              <a:t>Caught the 'None' chronic condition trap (747 healthy patients were parsed as NaN missing values by standard readers; actual null rate is 0%). Flagged that 99.96% of diagnostic tests occurred outside encounter windows and all walkouts still logged treatment durations.</a:t>
            </a:r>
          </a:p>
          <a:p>
            <a:pPr marL="320040" indent="-320040" algn="l">
              <a:buFont typeface="Arial"/>
              <a:buChar char="•"/>
              <a:spcAft>
                <a:spcPts val="800"/>
              </a:spcAft>
            </a:pPr>
            <a:r>
              <a:rPr sz="1350" b="1">
                <a:solidFill>
                  <a:srgbClr val="0F172A"/>
                </a:solidFill>
                <a:latin typeface="Arial"/>
              </a:rPr>
              <a:t>Core Operational Takeaways: </a:t>
            </a:r>
            <a:r>
              <a:rPr sz="1350" b="0">
                <a:solidFill>
                  <a:srgbClr val="475569"/>
                </a:solidFill>
                <a:latin typeface="Arial"/>
              </a:rPr>
              <a:t>ANOVA shows Triage explains 46.8% of wait variance and Department bottlenecks add 5.6%, while patient demographics (age, sex, insurance) show zero statistical bias. Furthermore, patients wait 52.2 minutes after treatment just for discharge—longer than their clinical care time (47.7 min).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783080" y="228600"/>
            <a:ext cx="85953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0">
                <a:solidFill>
                  <a:srgbClr val="000000"/>
                </a:solidFill>
                <a:latin typeface="Arial Black"/>
              </a:rPr>
              <a:t>ML MODEL</a:t>
            </a:r>
          </a:p>
        </p:txBody>
      </p:sp>
      <p:pic>
        <p:nvPicPr>
          <p:cNvPr id="3" name="Picture 2" descr="logo-dsc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7160"/>
            <a:ext cx="1144693" cy="914400"/>
          </a:xfrm>
          <a:prstGeom prst="rect">
            <a:avLst/>
          </a:prstGeom>
        </p:spPr>
      </p:pic>
      <p:pic>
        <p:nvPicPr>
          <p:cNvPr id="4" name="Picture 3" descr="logo-iiec-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0" y="320040"/>
            <a:ext cx="1497850" cy="56692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19E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DATATHON 2026  ·  Round 1 Idea Submission –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355080"/>
            <a:ext cx="1005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300" b="1">
                <a:solidFill>
                  <a:srgbClr val="000000"/>
                </a:solidFill>
                <a:latin typeface="Arial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0876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Arial"/>
              </a:rPr>
              <a:t>❖ </a:t>
            </a:r>
            <a:r>
              <a:rPr sz="2800" b="1" u="sng">
                <a:solidFill>
                  <a:srgbClr val="000000"/>
                </a:solidFill>
                <a:latin typeface="Arial"/>
              </a:rPr>
              <a:t>ML Approach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94560"/>
            <a:ext cx="110642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320040" indent="-320040" algn="l">
              <a:buFont typeface="Arial"/>
              <a:buChar char="•"/>
              <a:spcAft>
                <a:spcPts val="800"/>
              </a:spcAft>
            </a:pPr>
            <a:r>
              <a:rPr sz="1350" b="1">
                <a:solidFill>
                  <a:srgbClr val="0F172A"/>
                </a:solidFill>
                <a:latin typeface="Arial"/>
              </a:rPr>
              <a:t>In-House Statistical Engine (No Black-Box APIs): </a:t>
            </a:r>
            <a:r>
              <a:rPr sz="1350" b="0">
                <a:solidFill>
                  <a:srgbClr val="475569"/>
                </a:solidFill>
                <a:latin typeface="Arial"/>
              </a:rPr>
              <a:t>Built 100% from scratch using Python, NumPy, and SciPy—combining ANOVA variance decomposition (Eta-Squared) with an Ordinary Least Squares (OLS) multivariate estimator. Zero external API keys or recurring costs.</a:t>
            </a:r>
          </a:p>
          <a:p>
            <a:pPr marL="320040" indent="-320040" algn="l">
              <a:buFont typeface="Arial"/>
              <a:buChar char="•"/>
              <a:spcAft>
                <a:spcPts val="800"/>
              </a:spcAft>
            </a:pPr>
            <a:r>
              <a:rPr sz="1350" b="1">
                <a:solidFill>
                  <a:srgbClr val="0F172A"/>
                </a:solidFill>
                <a:latin typeface="Arial"/>
              </a:rPr>
              <a:t>Features, Targets &amp; Performance: </a:t>
            </a:r>
            <a:r>
              <a:rPr sz="1350" b="0">
                <a:solidFill>
                  <a:srgbClr val="475569"/>
                </a:solidFill>
                <a:latin typeface="Arial"/>
              </a:rPr>
              <a:t>Predicts individual wait time and walkout likelihood using triage tier, department capacity, bed ratios, arrival hour, and visit type. Achieved R² = 0.519 (51.9% variance explained) with Mean Absolute Error of 13.87 min, outperforming hospital baseline by 44%.</a:t>
            </a:r>
          </a:p>
          <a:p>
            <a:pPr marL="320040" indent="-320040" algn="l">
              <a:buFont typeface="Arial"/>
              <a:buChar char="•"/>
              <a:spcAft>
                <a:spcPts val="800"/>
              </a:spcAft>
            </a:pPr>
            <a:r>
              <a:rPr sz="1350" b="1">
                <a:solidFill>
                  <a:srgbClr val="0F172A"/>
                </a:solidFill>
                <a:latin typeface="Arial"/>
              </a:rPr>
              <a:t>How the Output Powers CarePing: </a:t>
            </a:r>
            <a:r>
              <a:rPr sz="1350" b="0">
                <a:solidFill>
                  <a:srgbClr val="475569"/>
                </a:solidFill>
                <a:latin typeface="Arial"/>
              </a:rPr>
              <a:t>The model powers a real-time countdown badge on every patient card, flagging individuals who are within 15 minutes of their statistical walkout threshold so staff can intervene proactively.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783080" y="228600"/>
            <a:ext cx="85953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0">
                <a:solidFill>
                  <a:srgbClr val="000000"/>
                </a:solidFill>
                <a:latin typeface="Arial Black"/>
              </a:rPr>
              <a:t>BASE PROTOTYPE &amp; MVP</a:t>
            </a:r>
          </a:p>
        </p:txBody>
      </p:sp>
      <p:pic>
        <p:nvPicPr>
          <p:cNvPr id="3" name="Picture 2" descr="logo-dsc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7160"/>
            <a:ext cx="1144693" cy="914400"/>
          </a:xfrm>
          <a:prstGeom prst="rect">
            <a:avLst/>
          </a:prstGeom>
        </p:spPr>
      </p:pic>
      <p:pic>
        <p:nvPicPr>
          <p:cNvPr id="4" name="Picture 3" descr="logo-iiec-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0" y="320040"/>
            <a:ext cx="1497850" cy="56692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19E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DATATHON 2026  ·  Round 1 Idea Submission –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355080"/>
            <a:ext cx="1005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300" b="1">
                <a:solidFill>
                  <a:srgbClr val="000000"/>
                </a:solidFill>
                <a:latin typeface="Arial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0876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Arial"/>
              </a:rPr>
              <a:t>❖ </a:t>
            </a:r>
            <a:r>
              <a:rPr sz="2800" b="1" u="sng">
                <a:solidFill>
                  <a:srgbClr val="000000"/>
                </a:solidFill>
                <a:latin typeface="Arial"/>
              </a:rPr>
              <a:t>Base Prototype (Round 1)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94560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320040" indent="-320040" algn="l">
              <a:buFont typeface="Arial"/>
              <a:buChar char="•"/>
              <a:spcAft>
                <a:spcPts val="500"/>
              </a:spcAft>
            </a:pPr>
            <a:r>
              <a:rPr sz="1300" b="1">
                <a:solidFill>
                  <a:srgbClr val="0F172A"/>
                </a:solidFill>
                <a:latin typeface="Arial"/>
              </a:rPr>
              <a:t>Working Prototype (Round 1): </a:t>
            </a:r>
            <a:r>
              <a:rPr sz="1300" b="0">
                <a:solidFill>
                  <a:srgbClr val="475569"/>
                </a:solidFill>
                <a:latin typeface="Arial"/>
              </a:rPr>
              <a:t>Shipped a fully functional, offline single-file interactive web dashboard (forgotten_patient_dashboard.html) featuring live KPI scorecards, interactive department bottleneck charts, a searchable cohort explorer across all 242 walkout visits, and an operational simulator.</a:t>
            </a:r>
          </a:p>
          <a:p>
            <a:pPr algn="l" marL="320040" indent="-320040">
              <a:buFont typeface="Arial"/>
              <a:buChar char="•"/>
              <a:spcAft>
                <a:spcPts val="500"/>
              </a:spcAft>
            </a:pPr>
            <a:r>
              <a:rPr sz="1300" b="1">
                <a:solidFill>
                  <a:srgbClr val="0F172A"/>
                </a:solidFill>
                <a:latin typeface="Arial"/>
              </a:rPr>
              <a:t>Analytical Evidence &amp; Report: </a:t>
            </a:r>
            <a:r>
              <a:rPr sz="1300" b="0">
                <a:solidFill>
                  <a:srgbClr val="475569"/>
                </a:solidFill>
                <a:latin typeface="Arial"/>
              </a:rPr>
              <a:t>Backed by our reproducible Python analytical pipeline (forgotten_patient_analysis.py) and a publication-grade 7-page technical report with full statistical verification.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52044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Arial"/>
              </a:rPr>
              <a:t>❖ </a:t>
            </a:r>
            <a:r>
              <a:rPr sz="2800" b="1" u="sng">
                <a:solidFill>
                  <a:srgbClr val="000000"/>
                </a:solidFill>
                <a:latin typeface="Arial"/>
              </a:rPr>
              <a:t>MVP for Round 2</a:t>
            </a:r>
            <a:r>
              <a:rPr sz="1600" b="0">
                <a:solidFill>
                  <a:srgbClr val="555555"/>
                </a:solidFill>
                <a:latin typeface="Arial"/>
              </a:rPr>
              <a:t>   (Mandatory)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114800"/>
            <a:ext cx="1106424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320040" indent="-320040" algn="l">
              <a:buFont typeface="Arial"/>
              <a:buChar char="•"/>
              <a:spcAft>
                <a:spcPts val="500"/>
              </a:spcAft>
            </a:pPr>
            <a:r>
              <a:rPr sz="1300" b="1">
                <a:solidFill>
                  <a:srgbClr val="0F172A"/>
                </a:solidFill>
                <a:latin typeface="Arial"/>
              </a:rPr>
              <a:t>Must-Have Features for Round 2: </a:t>
            </a:r>
            <a:r>
              <a:rPr sz="1300" b="0">
                <a:solidFill>
                  <a:srgbClr val="475569"/>
                </a:solidFill>
                <a:latin typeface="Arial"/>
              </a:rPr>
              <a:t>Nurse tablet view with live color-coded status cards (Green / Amber / Red) and automated SMS/WhatsApp queue pings keeping waiting patients informed of their expected doctor time.</a:t>
            </a:r>
          </a:p>
          <a:p>
            <a:pPr marL="320040" indent="-320040" algn="l">
              <a:buFont typeface="Arial"/>
              <a:buChar char="•"/>
              <a:spcAft>
                <a:spcPts val="500"/>
              </a:spcAft>
            </a:pPr>
            <a:r>
              <a:rPr sz="1300" b="1">
                <a:solidFill>
                  <a:srgbClr val="0F172A"/>
                </a:solidFill>
                <a:latin typeface="Arial"/>
              </a:rPr>
              <a:t>Demo Workflow (Input → Output → Action): </a:t>
            </a:r>
            <a:r>
              <a:rPr sz="1300" b="0">
                <a:solidFill>
                  <a:srgbClr val="475569"/>
                </a:solidFill>
                <a:latin typeface="Arial"/>
              </a:rPr>
              <a:t>1. Patient checks in at reception → 2. CarePing estimates wait time &amp; walkout risk → 3. Live countdown updates on board → 4. Ping alerts staff at 45 min for quick comfort check-in → 5. Post-care patient transitions smoothly to discharge lounge.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783080" y="228600"/>
            <a:ext cx="85953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0">
                <a:solidFill>
                  <a:srgbClr val="000000"/>
                </a:solidFill>
                <a:latin typeface="Arial Black"/>
              </a:rPr>
              <a:t>TECHNICAL APPROACH</a:t>
            </a:r>
          </a:p>
        </p:txBody>
      </p:sp>
      <p:pic>
        <p:nvPicPr>
          <p:cNvPr id="3" name="Picture 2" descr="logo-dsc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7160"/>
            <a:ext cx="1144693" cy="914400"/>
          </a:xfrm>
          <a:prstGeom prst="rect">
            <a:avLst/>
          </a:prstGeom>
        </p:spPr>
      </p:pic>
      <p:pic>
        <p:nvPicPr>
          <p:cNvPr id="4" name="Picture 3" descr="logo-iiec-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0" y="320040"/>
            <a:ext cx="1497850" cy="56692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19E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DATATHON 2026  ·  Round 1 Idea Submission –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355080"/>
            <a:ext cx="1005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300" b="1">
                <a:solidFill>
                  <a:srgbClr val="000000"/>
                </a:solidFill>
                <a:latin typeface="Arial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0876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Arial"/>
              </a:rPr>
              <a:t>❖ </a:t>
            </a:r>
            <a:r>
              <a:rPr sz="2800" b="1" u="sng">
                <a:solidFill>
                  <a:srgbClr val="000000"/>
                </a:solidFill>
                <a:latin typeface="Arial"/>
              </a:rPr>
              <a:t>Technical Approach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94560"/>
            <a:ext cx="1106424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320040" indent="-320040" algn="l">
              <a:buFont typeface="Arial"/>
              <a:buChar char="•"/>
              <a:spcAft>
                <a:spcPts val="1000"/>
              </a:spcAft>
            </a:pPr>
            <a:r>
              <a:rPr sz="1350" b="1">
                <a:solidFill>
                  <a:srgbClr val="0F172A"/>
                </a:solidFill>
                <a:latin typeface="Arial"/>
              </a:rPr>
              <a:t>Languages &amp; Frameworks Used: </a:t>
            </a:r>
            <a:r>
              <a:rPr sz="1350" b="0">
                <a:solidFill>
                  <a:srgbClr val="475569"/>
                </a:solidFill>
                <a:latin typeface="Arial"/>
              </a:rPr>
              <a:t>Data Pipeline &amp; Modeling: Python 3, Pandas, NumPy, SciPy (ANOVA, Chi-Square, OLS regression) &amp; Matplotlib. Frontend Dashboard: HTML5, Tailwind CSS, Chart.js. Packaged entirely as a hermetic offline web app requiring zero backend servers or setup.</a:t>
            </a:r>
          </a:p>
          <a:p>
            <a:pPr marL="320040" indent="-320040" algn="l">
              <a:buFont typeface="Arial"/>
              <a:buChar char="•"/>
              <a:spcAft>
                <a:spcPts val="1000"/>
              </a:spcAft>
            </a:pPr>
            <a:r>
              <a:rPr sz="1350" b="1">
                <a:solidFill>
                  <a:srgbClr val="0F172A"/>
                </a:solidFill>
                <a:latin typeface="Arial"/>
              </a:rPr>
              <a:t>End-to-End Pipeline Architecture: </a:t>
            </a:r>
            <a:r>
              <a:rPr sz="1350" b="0">
                <a:solidFill>
                  <a:srgbClr val="475569"/>
                </a:solidFill>
                <a:latin typeface="Arial"/>
              </a:rPr>
              <a:t>Data Ingestion: Load CSVs preserving explicit string types to prevent null-parsing bugs → Quality Audit: Identify timestamp anomalies, bed bottlenecks, and ghost service records → Statistical Modeling: Decompose variance and estimate wait-time coefficients → Frontend Delivery: Interactive filtering, live charts, and real-time operational simulation sliders.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783080" y="228600"/>
            <a:ext cx="85953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0">
                <a:solidFill>
                  <a:srgbClr val="000000"/>
                </a:solidFill>
                <a:latin typeface="Arial Black"/>
              </a:rPr>
              <a:t>FEASIBILITY, IMPACT &amp; NEXT STEPS</a:t>
            </a:r>
          </a:p>
        </p:txBody>
      </p:sp>
      <p:pic>
        <p:nvPicPr>
          <p:cNvPr id="3" name="Picture 2" descr="logo-dsc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7160"/>
            <a:ext cx="1144693" cy="914400"/>
          </a:xfrm>
          <a:prstGeom prst="rect">
            <a:avLst/>
          </a:prstGeom>
        </p:spPr>
      </p:pic>
      <p:pic>
        <p:nvPicPr>
          <p:cNvPr id="4" name="Picture 3" descr="logo-iiec-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0" y="320040"/>
            <a:ext cx="1497850" cy="56692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19E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DATATHON 2026  ·  Round 1 Idea Submission –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355080"/>
            <a:ext cx="1005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300" b="1">
                <a:solidFill>
                  <a:srgbClr val="000000"/>
                </a:solidFill>
                <a:latin typeface="Arial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0876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Arial"/>
              </a:rPr>
              <a:t>❖ </a:t>
            </a:r>
            <a:r>
              <a:rPr sz="2800" b="1" u="sng">
                <a:solidFill>
                  <a:srgbClr val="000000"/>
                </a:solidFill>
                <a:latin typeface="Arial"/>
              </a:rPr>
              <a:t>Feasibility, Impact &amp; Next Steps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94560"/>
            <a:ext cx="110642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320040" indent="-320040" algn="l">
              <a:buFont typeface="Arial"/>
              <a:buChar char="•"/>
              <a:spcAft>
                <a:spcPts val="800"/>
              </a:spcAft>
            </a:pPr>
            <a:r>
              <a:rPr sz="1350" b="1">
                <a:solidFill>
                  <a:srgbClr val="0F172A"/>
                </a:solidFill>
                <a:latin typeface="Arial"/>
              </a:rPr>
              <a:t>Feasibility &amp; Risk Mitigation: </a:t>
            </a:r>
            <a:r>
              <a:rPr sz="1350" b="0">
                <a:solidFill>
                  <a:srgbClr val="475569"/>
                </a:solidFill>
                <a:latin typeface="Arial"/>
              </a:rPr>
              <a:t>Runs directly in any modern browser on existing hospital reception computers with zero infrastructure changes. Staff training requires under 15 minutes because the UI behaves just like a simple airport flight status board.</a:t>
            </a:r>
          </a:p>
          <a:p>
            <a:pPr marL="320040" indent="-320040" algn="l">
              <a:buFont typeface="Arial"/>
              <a:buChar char="•"/>
              <a:spcAft>
                <a:spcPts val="800"/>
              </a:spcAft>
            </a:pPr>
            <a:r>
              <a:rPr sz="1350" b="1">
                <a:solidFill>
                  <a:srgbClr val="0F172A"/>
                </a:solidFill>
                <a:latin typeface="Arial"/>
              </a:rPr>
              <a:t>Quantified Operational Impact: </a:t>
            </a:r>
            <a:r>
              <a:rPr sz="1350" b="0">
                <a:solidFill>
                  <a:srgbClr val="475569"/>
                </a:solidFill>
                <a:latin typeface="Arial"/>
              </a:rPr>
              <a:t>Simulations project saving ~92 walkout patients annually (a 38% reduction in LWBS) and reclaiming over 3,480 bed-hours each year through discharge lounge expediting—shortening average patient stay from 152 to 99 minutes.</a:t>
            </a:r>
          </a:p>
          <a:p>
            <a:pPr marL="320040" indent="-320040" algn="l">
              <a:buFont typeface="Arial"/>
              <a:buChar char="•"/>
              <a:spcAft>
                <a:spcPts val="800"/>
              </a:spcAft>
            </a:pPr>
            <a:r>
              <a:rPr sz="1350" b="1">
                <a:solidFill>
                  <a:srgbClr val="0F172A"/>
                </a:solidFill>
                <a:latin typeface="Arial"/>
              </a:rPr>
              <a:t>Immediate Next Steps for Round 2: </a:t>
            </a:r>
            <a:r>
              <a:rPr sz="1350" b="0">
                <a:solidFill>
                  <a:srgbClr val="475569"/>
                </a:solidFill>
                <a:latin typeface="Arial"/>
              </a:rPr>
              <a:t>Connect live simulated HL7/FHIR hospital data feeds, test patient SMS alert pings, and validate nurse response times during peak outpatient hours.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